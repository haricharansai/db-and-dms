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Gelasio" panose="020B0604020202020204" charset="0"/>
      <p:regular r:id="rId1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0E7"/>
    <a:srgbClr val="464342"/>
    <a:srgbClr val="172C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7653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B8927-F3B1-C18E-7A41-710365AA6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A2952-2C30-BCE9-D401-63F8A4BEB5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2C2BD-3636-BA9C-82A8-0365D2132B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24D4FA-C8DE-544F-8A98-B07F5979006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77774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02D2C"/>
          </a:solidFill>
          <a:ln/>
        </p:spPr>
      </p:sp>
      <p:sp>
        <p:nvSpPr>
          <p:cNvPr id="3" name="Shape 1"/>
          <p:cNvSpPr/>
          <p:nvPr/>
        </p:nvSpPr>
        <p:spPr>
          <a:xfrm>
            <a:off x="0" y="0"/>
            <a:ext cx="12191695" cy="68580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621631"/>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D8B6A4"/>
                </a:solidFill>
                <a:latin typeface="Gelasio" pitchFamily="34" charset="0"/>
                <a:ea typeface="Gelasio" pitchFamily="34" charset="-122"/>
                <a:cs typeface="Gelasio" pitchFamily="34" charset="-120"/>
              </a:rPr>
              <a:t>Multi‑Vendor E‑Commerce Marketplace</a:t>
            </a:r>
            <a:endParaRPr lang="en-US" sz="3700" dirty="0"/>
          </a:p>
        </p:txBody>
      </p:sp>
      <p:sp>
        <p:nvSpPr>
          <p:cNvPr id="4" name="Text 1"/>
          <p:cNvSpPr/>
          <p:nvPr/>
        </p:nvSpPr>
        <p:spPr>
          <a:xfrm>
            <a:off x="5233360" y="3086398"/>
            <a:ext cx="6296860" cy="3097834"/>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A unified web platform that connects independent vendors with customers,     streamlines product management, and centralizes order processing.  </a:t>
            </a:r>
          </a:p>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 Batch No: 11</a:t>
            </a:r>
            <a:endParaRPr lang="en-US" sz="1450" dirty="0"/>
          </a:p>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 K. Sriram (2520090022) </a:t>
            </a:r>
            <a:endParaRPr lang="en-US" sz="1450" dirty="0"/>
          </a:p>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Haricharansai (2520090048) </a:t>
            </a:r>
            <a:endParaRPr lang="en-US" sz="1450" dirty="0"/>
          </a:p>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Hasith Varma (2520090125)</a:t>
            </a:r>
            <a:endParaRPr lang="en-US" sz="1450" dirty="0"/>
          </a:p>
        </p:txBody>
      </p:sp>
      <p:sp>
        <p:nvSpPr>
          <p:cNvPr id="5" name="Rectangle 4">
            <a:extLst>
              <a:ext uri="{FF2B5EF4-FFF2-40B4-BE49-F238E27FC236}">
                <a16:creationId xmlns:a16="http://schemas.microsoft.com/office/drawing/2014/main" id="{6F4C1ED6-CE53-4136-4290-08BFA1760F9F}"/>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64FAC04-AF39-6FAE-573B-272C7967E402}"/>
              </a:ext>
            </a:extLst>
          </p:cNvPr>
          <p:cNvSpPr txBox="1"/>
          <p:nvPr/>
        </p:nvSpPr>
        <p:spPr>
          <a:xfrm>
            <a:off x="5029200" y="6376737"/>
            <a:ext cx="6809874" cy="261610"/>
          </a:xfrm>
          <a:prstGeom prst="rect">
            <a:avLst/>
          </a:prstGeom>
          <a:noFill/>
        </p:spPr>
        <p:txBody>
          <a:bodyPr wrap="square" rtlCol="0">
            <a:spAutoFit/>
          </a:bodyPr>
          <a:lstStyle/>
          <a:p>
            <a:r>
              <a:rPr lang="en-IN" sz="1100" dirty="0">
                <a:solidFill>
                  <a:schemeClr val="bg1">
                    <a:lumMod val="85000"/>
                  </a:schemeClr>
                </a:solidFill>
              </a:rPr>
              <a:t>DBMS</a:t>
            </a:r>
          </a:p>
        </p:txBody>
      </p:sp>
      <p:pic>
        <p:nvPicPr>
          <p:cNvPr id="7" name="Picture 6" descr="KLH Aziznagar Campus | Leading Engineering College in Hyderabad">
            <a:extLst>
              <a:ext uri="{FF2B5EF4-FFF2-40B4-BE49-F238E27FC236}">
                <a16:creationId xmlns:a16="http://schemas.microsoft.com/office/drawing/2014/main" id="{D087E32B-8E48-FE12-5D2B-494B581581BB}"/>
              </a:ext>
            </a:extLst>
          </p:cNvPr>
          <p:cNvPicPr>
            <a:picLocks noChangeAspect="1"/>
          </p:cNvPicPr>
          <p:nvPr/>
        </p:nvPicPr>
        <p:blipFill>
          <a:blip r:embed="rId4"/>
          <a:stretch>
            <a:fillRect/>
          </a:stretch>
        </p:blipFill>
        <p:spPr>
          <a:xfrm>
            <a:off x="10267580" y="-495542"/>
            <a:ext cx="1924420" cy="1430390"/>
          </a:xfrm>
          <a:prstGeom prst="rect">
            <a:avLst/>
          </a:prstGeom>
        </p:spPr>
      </p:pic>
      <p:sp>
        <p:nvSpPr>
          <p:cNvPr id="8" name="TextBox 7">
            <a:extLst>
              <a:ext uri="{FF2B5EF4-FFF2-40B4-BE49-F238E27FC236}">
                <a16:creationId xmlns:a16="http://schemas.microsoft.com/office/drawing/2014/main" id="{32F2FF77-E9A2-D211-AA04-61A0BD9EBD42}"/>
              </a:ext>
            </a:extLst>
          </p:cNvPr>
          <p:cNvSpPr txBox="1"/>
          <p:nvPr/>
        </p:nvSpPr>
        <p:spPr>
          <a:xfrm>
            <a:off x="9674023" y="5665550"/>
            <a:ext cx="2165051" cy="430887"/>
          </a:xfrm>
          <a:prstGeom prst="rect">
            <a:avLst/>
          </a:prstGeom>
          <a:noFill/>
        </p:spPr>
        <p:txBody>
          <a:bodyPr wrap="square" rtlCol="0">
            <a:spAutoFit/>
          </a:bodyPr>
          <a:lstStyle/>
          <a:p>
            <a:pPr algn="ctr"/>
            <a:r>
              <a:rPr lang="en-IN" sz="2200" b="1" dirty="0">
                <a:solidFill>
                  <a:schemeClr val="bg1">
                    <a:lumMod val="75000"/>
                  </a:schemeClr>
                </a:solidFill>
              </a:rPr>
              <a:t>Review- 1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490563"/>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D8B6A4"/>
                </a:solidFill>
                <a:latin typeface="Gelasio" pitchFamily="34" charset="0"/>
                <a:ea typeface="Gelasio" pitchFamily="34" charset="-122"/>
                <a:cs typeface="Gelasio" pitchFamily="34" charset="-120"/>
              </a:rPr>
              <a:t>Problem &amp; Motivation</a:t>
            </a:r>
            <a:endParaRPr lang="en-US" sz="2950" dirty="0"/>
          </a:p>
        </p:txBody>
      </p:sp>
      <p:pic>
        <p:nvPicPr>
          <p:cNvPr id="3" name="Image 0" descr="preencoded.png"/>
          <p:cNvPicPr>
            <a:picLocks noChangeAspect="1"/>
          </p:cNvPicPr>
          <p:nvPr/>
        </p:nvPicPr>
        <p:blipFill>
          <a:blip r:embed="rId3"/>
          <a:stretch>
            <a:fillRect/>
          </a:stretch>
        </p:blipFill>
        <p:spPr>
          <a:xfrm>
            <a:off x="661475" y="2341066"/>
            <a:ext cx="1004962" cy="621109"/>
          </a:xfrm>
          <a:prstGeom prst="rect">
            <a:avLst/>
          </a:prstGeom>
        </p:spPr>
      </p:pic>
      <p:sp>
        <p:nvSpPr>
          <p:cNvPr id="4" name="Text 1"/>
          <p:cNvSpPr/>
          <p:nvPr/>
        </p:nvSpPr>
        <p:spPr>
          <a:xfrm>
            <a:off x="1902670" y="2341066"/>
            <a:ext cx="222423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C9C2C0"/>
                </a:solidFill>
                <a:latin typeface="Gelasio" pitchFamily="34" charset="0"/>
                <a:ea typeface="Gelasio" pitchFamily="34" charset="-122"/>
                <a:cs typeface="Gelasio" pitchFamily="34" charset="-120"/>
              </a:rPr>
              <a:t>Limited Reach for Small Sellers</a:t>
            </a:r>
            <a:endParaRPr lang="en-US" sz="1850" dirty="0"/>
          </a:p>
        </p:txBody>
      </p:sp>
      <p:sp>
        <p:nvSpPr>
          <p:cNvPr id="5" name="Text 2"/>
          <p:cNvSpPr/>
          <p:nvPr/>
        </p:nvSpPr>
        <p:spPr>
          <a:xfrm>
            <a:off x="1902670" y="3045023"/>
            <a:ext cx="222423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Independent vendors struggle to find customers and scale without a central marketplace.</a:t>
            </a:r>
            <a:endParaRPr lang="en-US" sz="1450" dirty="0"/>
          </a:p>
        </p:txBody>
      </p:sp>
      <p:pic>
        <p:nvPicPr>
          <p:cNvPr id="6" name="Image 1" descr="preencoded.png"/>
          <p:cNvPicPr>
            <a:picLocks noChangeAspect="1"/>
          </p:cNvPicPr>
          <p:nvPr/>
        </p:nvPicPr>
        <p:blipFill>
          <a:blip r:embed="rId4"/>
          <a:stretch>
            <a:fillRect/>
          </a:stretch>
        </p:blipFill>
        <p:spPr>
          <a:xfrm>
            <a:off x="4363135" y="2341066"/>
            <a:ext cx="1004962" cy="621109"/>
          </a:xfrm>
          <a:prstGeom prst="rect">
            <a:avLst/>
          </a:prstGeom>
        </p:spPr>
      </p:pic>
      <p:sp>
        <p:nvSpPr>
          <p:cNvPr id="7" name="Text 3"/>
          <p:cNvSpPr/>
          <p:nvPr/>
        </p:nvSpPr>
        <p:spPr>
          <a:xfrm>
            <a:off x="5604330" y="2341066"/>
            <a:ext cx="2224230" cy="885825"/>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C9C2C0"/>
                </a:solidFill>
                <a:latin typeface="Gelasio" pitchFamily="34" charset="0"/>
                <a:ea typeface="Gelasio" pitchFamily="34" charset="-122"/>
                <a:cs typeface="Gelasio" pitchFamily="34" charset="-120"/>
              </a:rPr>
              <a:t>Fragmented Customer Experience</a:t>
            </a:r>
            <a:endParaRPr lang="en-US" sz="1850" dirty="0"/>
          </a:p>
        </p:txBody>
      </p:sp>
      <p:sp>
        <p:nvSpPr>
          <p:cNvPr id="8" name="Text 4"/>
          <p:cNvSpPr/>
          <p:nvPr/>
        </p:nvSpPr>
        <p:spPr>
          <a:xfrm>
            <a:off x="5604330" y="3340298"/>
            <a:ext cx="2224230"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Customers must visit multiple sites to compare products, prices, and reviews — slowing decisions.</a:t>
            </a:r>
            <a:endParaRPr lang="en-US" sz="1450" dirty="0"/>
          </a:p>
        </p:txBody>
      </p:sp>
      <p:pic>
        <p:nvPicPr>
          <p:cNvPr id="9" name="Image 2" descr="preencoded.png"/>
          <p:cNvPicPr>
            <a:picLocks noChangeAspect="1"/>
          </p:cNvPicPr>
          <p:nvPr/>
        </p:nvPicPr>
        <p:blipFill>
          <a:blip r:embed="rId5"/>
          <a:stretch>
            <a:fillRect/>
          </a:stretch>
        </p:blipFill>
        <p:spPr>
          <a:xfrm>
            <a:off x="8064794" y="2341066"/>
            <a:ext cx="1004962" cy="621109"/>
          </a:xfrm>
          <a:prstGeom prst="rect">
            <a:avLst/>
          </a:prstGeom>
        </p:spPr>
      </p:pic>
      <p:sp>
        <p:nvSpPr>
          <p:cNvPr id="10" name="Text 5"/>
          <p:cNvSpPr/>
          <p:nvPr/>
        </p:nvSpPr>
        <p:spPr>
          <a:xfrm>
            <a:off x="9305990" y="2341066"/>
            <a:ext cx="222423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C9C2C0"/>
                </a:solidFill>
                <a:latin typeface="Gelasio" pitchFamily="34" charset="0"/>
                <a:ea typeface="Gelasio" pitchFamily="34" charset="-122"/>
                <a:cs typeface="Gelasio" pitchFamily="34" charset="-120"/>
              </a:rPr>
              <a:t>Inefficient Management</a:t>
            </a:r>
            <a:endParaRPr lang="en-US" sz="1850" dirty="0"/>
          </a:p>
        </p:txBody>
      </p:sp>
      <p:sp>
        <p:nvSpPr>
          <p:cNvPr id="11" name="Text 6"/>
          <p:cNvSpPr/>
          <p:nvPr/>
        </p:nvSpPr>
        <p:spPr>
          <a:xfrm>
            <a:off x="9305990" y="3045023"/>
            <a:ext cx="222423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Vendors lack simple, centralized tools to manage stock, orders, and product updates.</a:t>
            </a:r>
            <a:endParaRPr lang="en-US" sz="1450" dirty="0"/>
          </a:p>
        </p:txBody>
      </p:sp>
      <p:sp>
        <p:nvSpPr>
          <p:cNvPr id="12" name="Text 7"/>
          <p:cNvSpPr/>
          <p:nvPr/>
        </p:nvSpPr>
        <p:spPr>
          <a:xfrm>
            <a:off x="661475" y="5065018"/>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 A single platform reduces friction: centralized discovery, unified product data, and shared trust signals like ratings and reviews.</a:t>
            </a:r>
            <a:endParaRPr lang="en-US" sz="1450" dirty="0"/>
          </a:p>
        </p:txBody>
      </p:sp>
      <p:sp>
        <p:nvSpPr>
          <p:cNvPr id="14" name="Rectangle 13">
            <a:extLst>
              <a:ext uri="{FF2B5EF4-FFF2-40B4-BE49-F238E27FC236}">
                <a16:creationId xmlns:a16="http://schemas.microsoft.com/office/drawing/2014/main" id="{20F0C21F-CD87-E5EE-3A64-64415C0DC181}"/>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432620"/>
            <a:ext cx="6296860" cy="472480"/>
          </a:xfrm>
          <a:prstGeom prst="rect">
            <a:avLst/>
          </a:prstGeom>
          <a:noFill/>
          <a:ln/>
        </p:spPr>
        <p:txBody>
          <a:bodyPr wrap="none" lIns="0" tIns="0" rIns="0" bIns="0" rtlCol="0" anchor="t"/>
          <a:lstStyle/>
          <a:p>
            <a:pPr marL="0" indent="0" algn="l">
              <a:lnSpc>
                <a:spcPct val="104000"/>
              </a:lnSpc>
              <a:buNone/>
            </a:pPr>
            <a:r>
              <a:rPr lang="en-US" sz="2950" dirty="0">
                <a:solidFill>
                  <a:srgbClr val="D8B6A4"/>
                </a:solidFill>
                <a:latin typeface="Gelasio" pitchFamily="34" charset="0"/>
                <a:ea typeface="Gelasio" pitchFamily="34" charset="-122"/>
                <a:cs typeface="Gelasio" pitchFamily="34" charset="-120"/>
              </a:rPr>
              <a:t>Abstract</a:t>
            </a:r>
            <a:endParaRPr lang="en-US" sz="2950" dirty="0"/>
          </a:p>
        </p:txBody>
      </p:sp>
      <p:sp>
        <p:nvSpPr>
          <p:cNvPr id="4" name="Text 1"/>
          <p:cNvSpPr/>
          <p:nvPr/>
        </p:nvSpPr>
        <p:spPr>
          <a:xfrm>
            <a:off x="5233360" y="2188567"/>
            <a:ext cx="6296860" cy="3236813"/>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The proposed Multi‑Vendor E‑Commerce Marketplace is a responsive web application     that enables multiple sellers to list and manage products while providing     customers with unified search, comparison, purchasing, and tracking workflows.     Core features include vendor registration and product management, customer     accounts and carts, order lifecycle tracking, and an administrator console     to oversee users, vendors, products, and transactions.   </a:t>
            </a:r>
            <a:endParaRPr lang="en-US" sz="1450" dirty="0"/>
          </a:p>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 By aggregating sellers and product catalogs, the system aims to increase vendor visibility, simplify customer decision‑making, and provide scalable operations suitable for academic evaluation and real‑world deployment.</a:t>
            </a:r>
            <a:endParaRPr lang="en-US" sz="1450" dirty="0"/>
          </a:p>
        </p:txBody>
      </p:sp>
      <p:sp>
        <p:nvSpPr>
          <p:cNvPr id="6" name="Rectangle 5">
            <a:extLst>
              <a:ext uri="{FF2B5EF4-FFF2-40B4-BE49-F238E27FC236}">
                <a16:creationId xmlns:a16="http://schemas.microsoft.com/office/drawing/2014/main" id="{F743098D-AF16-C949-06DA-58FDD22B4082}"/>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61475" y="668437"/>
            <a:ext cx="6296860" cy="354409"/>
          </a:xfrm>
          <a:prstGeom prst="rect">
            <a:avLst/>
          </a:prstGeom>
          <a:noFill/>
          <a:ln/>
        </p:spPr>
        <p:txBody>
          <a:bodyPr wrap="none" lIns="0" tIns="0" rIns="0" bIns="0" rtlCol="0" anchor="t"/>
          <a:lstStyle/>
          <a:p>
            <a:pPr marL="0" indent="0" algn="l">
              <a:lnSpc>
                <a:spcPct val="104000"/>
              </a:lnSpc>
              <a:buNone/>
            </a:pPr>
            <a:r>
              <a:rPr lang="en-US" sz="2200" dirty="0">
                <a:solidFill>
                  <a:srgbClr val="D8B6A4"/>
                </a:solidFill>
                <a:latin typeface="Gelasio" pitchFamily="34" charset="0"/>
                <a:ea typeface="Gelasio" pitchFamily="34" charset="-122"/>
                <a:cs typeface="Gelasio" pitchFamily="34" charset="-120"/>
              </a:rPr>
              <a:t>Proposed Solution — Role-Based Features</a:t>
            </a:r>
            <a:endParaRPr lang="en-US" sz="2200" dirty="0"/>
          </a:p>
        </p:txBody>
      </p:sp>
      <p:sp>
        <p:nvSpPr>
          <p:cNvPr id="4" name="Text 1"/>
          <p:cNvSpPr/>
          <p:nvPr/>
        </p:nvSpPr>
        <p:spPr>
          <a:xfrm>
            <a:off x="661475" y="1288554"/>
            <a:ext cx="2643320" cy="221456"/>
          </a:xfrm>
          <a:prstGeom prst="rect">
            <a:avLst/>
          </a:prstGeom>
          <a:noFill/>
          <a:ln/>
        </p:spPr>
        <p:txBody>
          <a:bodyPr wrap="none" lIns="0" tIns="0" rIns="0" bIns="0" rtlCol="0" anchor="t"/>
          <a:lstStyle/>
          <a:p>
            <a:pPr marL="0" indent="0" algn="l">
              <a:lnSpc>
                <a:spcPct val="104000"/>
              </a:lnSpc>
              <a:buNone/>
            </a:pPr>
            <a:r>
              <a:rPr lang="en-US" sz="1350" dirty="0">
                <a:solidFill>
                  <a:srgbClr val="D8B6A4"/>
                </a:solidFill>
                <a:latin typeface="Gelasio" pitchFamily="34" charset="0"/>
                <a:ea typeface="Gelasio" pitchFamily="34" charset="-122"/>
                <a:cs typeface="Gelasio" pitchFamily="34" charset="-120"/>
              </a:rPr>
              <a:t>Architectural Overview</a:t>
            </a:r>
            <a:endParaRPr lang="en-US" sz="1350" dirty="0"/>
          </a:p>
        </p:txBody>
      </p:sp>
      <p:sp>
        <p:nvSpPr>
          <p:cNvPr id="5" name="Text 2"/>
          <p:cNvSpPr/>
          <p:nvPr/>
        </p:nvSpPr>
        <p:spPr>
          <a:xfrm>
            <a:off x="661475" y="1616273"/>
            <a:ext cx="2643320" cy="119062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C9C2C0"/>
                </a:solidFill>
                <a:latin typeface="Gelasio" pitchFamily="34" charset="0"/>
                <a:ea typeface="Gelasio" pitchFamily="34" charset="-122"/>
                <a:cs typeface="Gelasio" pitchFamily="34" charset="-120"/>
              </a:rPr>
              <a:t>         A single codebase exposes RESTful APIs with role‑based authorization.         Roles: Vendor, Customer, Admin. Each role has tailored UI views and         specific CRUD privileges to preserve data integrity and traceability.       </a:t>
            </a:r>
            <a:endParaRPr lang="en-US" sz="1100" dirty="0"/>
          </a:p>
        </p:txBody>
      </p:sp>
      <p:sp>
        <p:nvSpPr>
          <p:cNvPr id="6" name="Shape 3"/>
          <p:cNvSpPr/>
          <p:nvPr/>
        </p:nvSpPr>
        <p:spPr>
          <a:xfrm>
            <a:off x="661475" y="2926457"/>
            <a:ext cx="2643320" cy="857448"/>
          </a:xfrm>
          <a:prstGeom prst="roundRect">
            <a:avLst>
              <a:gd name="adj" fmla="val 2480"/>
            </a:avLst>
          </a:prstGeom>
          <a:solidFill>
            <a:srgbClr val="54392B"/>
          </a:solidFill>
          <a:ln/>
        </p:spPr>
      </p:sp>
      <p:pic>
        <p:nvPicPr>
          <p:cNvPr id="7" name="Image 1" descr="preencoded.png"/>
          <p:cNvPicPr>
            <a:picLocks noChangeAspect="1"/>
          </p:cNvPicPr>
          <p:nvPr/>
        </p:nvPicPr>
        <p:blipFill>
          <a:blip r:embed="rId3"/>
          <a:stretch>
            <a:fillRect/>
          </a:stretch>
        </p:blipFill>
        <p:spPr>
          <a:xfrm>
            <a:off x="803156" y="3083818"/>
            <a:ext cx="177200" cy="141684"/>
          </a:xfrm>
          <a:prstGeom prst="rect">
            <a:avLst/>
          </a:prstGeom>
        </p:spPr>
      </p:pic>
      <p:sp>
        <p:nvSpPr>
          <p:cNvPr id="8" name="Text 4"/>
          <p:cNvSpPr/>
          <p:nvPr/>
        </p:nvSpPr>
        <p:spPr>
          <a:xfrm>
            <a:off x="1122037" y="3057525"/>
            <a:ext cx="2041077" cy="595313"/>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FFFFFF"/>
                </a:solidFill>
                <a:latin typeface="Gelasio" pitchFamily="34" charset="0"/>
                <a:ea typeface="Gelasio" pitchFamily="34" charset="-122"/>
                <a:cs typeface="Gelasio" pitchFamily="34" charset="-120"/>
              </a:rPr>
              <a:t>         Use JWT for session authorization and bcrypt for secure password storage.       </a:t>
            </a:r>
            <a:endParaRPr lang="en-US" sz="11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7012" y="1301849"/>
            <a:ext cx="3307573" cy="1452364"/>
          </a:xfrm>
          <a:prstGeom prst="rect">
            <a:avLst/>
          </a:prstGeom>
        </p:spPr>
      </p:pic>
      <p:sp>
        <p:nvSpPr>
          <p:cNvPr id="10" name="Text 5"/>
          <p:cNvSpPr/>
          <p:nvPr/>
        </p:nvSpPr>
        <p:spPr>
          <a:xfrm>
            <a:off x="5225721" y="1408113"/>
            <a:ext cx="170057" cy="212626"/>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Gelasio" pitchFamily="34" charset="0"/>
                <a:ea typeface="Gelasio" pitchFamily="34" charset="-122"/>
                <a:cs typeface="Gelasio" pitchFamily="34" charset="-120"/>
              </a:rPr>
              <a:t>1</a:t>
            </a:r>
            <a:endParaRPr lang="en-US" sz="1300" dirty="0"/>
          </a:p>
        </p:txBody>
      </p:sp>
      <p:sp>
        <p:nvSpPr>
          <p:cNvPr id="11" name="Text 6"/>
          <p:cNvSpPr/>
          <p:nvPr/>
        </p:nvSpPr>
        <p:spPr>
          <a:xfrm>
            <a:off x="3817743" y="1868884"/>
            <a:ext cx="2986112"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Vendor</a:t>
            </a:r>
            <a:endParaRPr lang="en-US" sz="1350" dirty="0"/>
          </a:p>
        </p:txBody>
      </p:sp>
      <p:sp>
        <p:nvSpPr>
          <p:cNvPr id="12" name="Text 7"/>
          <p:cNvSpPr/>
          <p:nvPr/>
        </p:nvSpPr>
        <p:spPr>
          <a:xfrm>
            <a:off x="3817743" y="2196604"/>
            <a:ext cx="2986112"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C9C2C0"/>
                </a:solidFill>
                <a:latin typeface="Gelasio" pitchFamily="34" charset="0"/>
                <a:ea typeface="Gelasio" pitchFamily="34" charset="-122"/>
                <a:cs typeface="Gelasio" pitchFamily="34" charset="-120"/>
              </a:rPr>
              <a:t>Register, add &amp; edit products, manage stock, view orders and fulfillment status.</a:t>
            </a:r>
            <a:endParaRPr lang="en-US" sz="11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7012" y="2860477"/>
            <a:ext cx="3307573" cy="1452364"/>
          </a:xfrm>
          <a:prstGeom prst="rect">
            <a:avLst/>
          </a:prstGeom>
        </p:spPr>
      </p:pic>
      <p:sp>
        <p:nvSpPr>
          <p:cNvPr id="14" name="Text 8"/>
          <p:cNvSpPr/>
          <p:nvPr/>
        </p:nvSpPr>
        <p:spPr>
          <a:xfrm>
            <a:off x="5225721" y="2966740"/>
            <a:ext cx="170057" cy="212626"/>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Gelasio" pitchFamily="34" charset="0"/>
                <a:ea typeface="Gelasio" pitchFamily="34" charset="-122"/>
                <a:cs typeface="Gelasio" pitchFamily="34" charset="-120"/>
              </a:rPr>
              <a:t>2</a:t>
            </a:r>
            <a:endParaRPr lang="en-US" sz="1300" dirty="0"/>
          </a:p>
        </p:txBody>
      </p:sp>
      <p:sp>
        <p:nvSpPr>
          <p:cNvPr id="15" name="Text 9"/>
          <p:cNvSpPr/>
          <p:nvPr/>
        </p:nvSpPr>
        <p:spPr>
          <a:xfrm>
            <a:off x="3817743" y="3427512"/>
            <a:ext cx="2986112"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Customer</a:t>
            </a:r>
            <a:endParaRPr lang="en-US" sz="1350" dirty="0"/>
          </a:p>
        </p:txBody>
      </p:sp>
      <p:sp>
        <p:nvSpPr>
          <p:cNvPr id="16" name="Text 10"/>
          <p:cNvSpPr/>
          <p:nvPr/>
        </p:nvSpPr>
        <p:spPr>
          <a:xfrm>
            <a:off x="3817743" y="3755231"/>
            <a:ext cx="2986112"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C9C2C0"/>
                </a:solidFill>
                <a:latin typeface="Gelasio" pitchFamily="34" charset="0"/>
                <a:ea typeface="Gelasio" pitchFamily="34" charset="-122"/>
                <a:cs typeface="Gelasio" pitchFamily="34" charset="-120"/>
              </a:rPr>
              <a:t>Browse &amp; search catalogs, compare items, cart &amp; checkout, track orders, rate products.</a:t>
            </a:r>
            <a:endParaRPr lang="en-US" sz="11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57012" y="4419104"/>
            <a:ext cx="3307573" cy="1650802"/>
          </a:xfrm>
          <a:prstGeom prst="rect">
            <a:avLst/>
          </a:prstGeom>
        </p:spPr>
      </p:pic>
      <p:sp>
        <p:nvSpPr>
          <p:cNvPr id="18" name="Text 11"/>
          <p:cNvSpPr/>
          <p:nvPr/>
        </p:nvSpPr>
        <p:spPr>
          <a:xfrm>
            <a:off x="5225721" y="4525367"/>
            <a:ext cx="170057" cy="212626"/>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Gelasio" pitchFamily="34" charset="0"/>
                <a:ea typeface="Gelasio" pitchFamily="34" charset="-122"/>
                <a:cs typeface="Gelasio" pitchFamily="34" charset="-120"/>
              </a:rPr>
              <a:t>3</a:t>
            </a:r>
            <a:endParaRPr lang="en-US" sz="1300" dirty="0"/>
          </a:p>
        </p:txBody>
      </p:sp>
      <p:sp>
        <p:nvSpPr>
          <p:cNvPr id="19" name="Text 12"/>
          <p:cNvSpPr/>
          <p:nvPr/>
        </p:nvSpPr>
        <p:spPr>
          <a:xfrm>
            <a:off x="3817743" y="4986139"/>
            <a:ext cx="2986112"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Admin</a:t>
            </a:r>
            <a:endParaRPr lang="en-US" sz="1350" dirty="0"/>
          </a:p>
        </p:txBody>
      </p:sp>
      <p:sp>
        <p:nvSpPr>
          <p:cNvPr id="20" name="Text 13"/>
          <p:cNvSpPr/>
          <p:nvPr/>
        </p:nvSpPr>
        <p:spPr>
          <a:xfrm>
            <a:off x="3817743" y="5313859"/>
            <a:ext cx="2986112" cy="595313"/>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C9C2C0"/>
                </a:solidFill>
                <a:latin typeface="Gelasio" pitchFamily="34" charset="0"/>
                <a:ea typeface="Gelasio" pitchFamily="34" charset="-122"/>
                <a:cs typeface="Gelasio" pitchFamily="34" charset="-120"/>
              </a:rPr>
              <a:t>Manage users, onboard vendors, moderate products &amp; reviews, monitor orders and reports.</a:t>
            </a:r>
            <a:endParaRPr lang="en-US" sz="1100" dirty="0"/>
          </a:p>
        </p:txBody>
      </p:sp>
      <p:pic>
        <p:nvPicPr>
          <p:cNvPr id="24" name="Picture 23">
            <a:extLst>
              <a:ext uri="{FF2B5EF4-FFF2-40B4-BE49-F238E27FC236}">
                <a16:creationId xmlns:a16="http://schemas.microsoft.com/office/drawing/2014/main" id="{92CE73D5-72F6-6F34-B33F-7A7D7CC4EF6C}"/>
              </a:ext>
            </a:extLst>
          </p:cNvPr>
          <p:cNvPicPr>
            <a:picLocks noChangeAspect="1"/>
          </p:cNvPicPr>
          <p:nvPr/>
        </p:nvPicPr>
        <p:blipFill>
          <a:blip r:embed="rId6"/>
          <a:stretch>
            <a:fillRect/>
          </a:stretch>
        </p:blipFill>
        <p:spPr>
          <a:xfrm>
            <a:off x="7624465" y="-1488"/>
            <a:ext cx="456753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939701"/>
            <a:ext cx="10868745" cy="448965"/>
          </a:xfrm>
          <a:prstGeom prst="rect">
            <a:avLst/>
          </a:prstGeom>
          <a:noFill/>
          <a:ln/>
        </p:spPr>
        <p:txBody>
          <a:bodyPr wrap="none" lIns="0" tIns="0" rIns="0" bIns="0" rtlCol="0" anchor="t"/>
          <a:lstStyle/>
          <a:p>
            <a:pPr marL="0" indent="0" algn="l">
              <a:lnSpc>
                <a:spcPct val="104000"/>
              </a:lnSpc>
              <a:buNone/>
            </a:pPr>
            <a:r>
              <a:rPr lang="en-US" sz="2800" dirty="0">
                <a:solidFill>
                  <a:srgbClr val="D8B6A4"/>
                </a:solidFill>
                <a:latin typeface="Gelasio" pitchFamily="34" charset="0"/>
                <a:ea typeface="Gelasio" pitchFamily="34" charset="-122"/>
                <a:cs typeface="Gelasio" pitchFamily="34" charset="-120"/>
              </a:rPr>
              <a:t>Technology Stack</a:t>
            </a:r>
            <a:endParaRPr lang="en-US" sz="2800" dirty="0"/>
          </a:p>
        </p:txBody>
      </p:sp>
      <p:pic>
        <p:nvPicPr>
          <p:cNvPr id="3" name="Image 0" descr="preencoded.png"/>
          <p:cNvPicPr>
            <a:picLocks noChangeAspect="1"/>
          </p:cNvPicPr>
          <p:nvPr/>
        </p:nvPicPr>
        <p:blipFill>
          <a:blip r:embed="rId3"/>
          <a:stretch>
            <a:fillRect/>
          </a:stretch>
        </p:blipFill>
        <p:spPr>
          <a:xfrm>
            <a:off x="661475" y="1729780"/>
            <a:ext cx="534379" cy="667941"/>
          </a:xfrm>
          <a:prstGeom prst="rect">
            <a:avLst/>
          </a:prstGeom>
        </p:spPr>
      </p:pic>
      <p:sp>
        <p:nvSpPr>
          <p:cNvPr id="4" name="Text 1"/>
          <p:cNvSpPr/>
          <p:nvPr/>
        </p:nvSpPr>
        <p:spPr>
          <a:xfrm>
            <a:off x="1409069" y="1729780"/>
            <a:ext cx="1809606" cy="280491"/>
          </a:xfrm>
          <a:prstGeom prst="rect">
            <a:avLst/>
          </a:prstGeom>
          <a:noFill/>
          <a:ln/>
        </p:spPr>
        <p:txBody>
          <a:bodyPr wrap="none" lIns="0" tIns="0" rIns="0" bIns="0" rtlCol="0" anchor="t"/>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Frontend</a:t>
            </a:r>
            <a:endParaRPr lang="en-US" sz="1750" dirty="0"/>
          </a:p>
        </p:txBody>
      </p:sp>
      <p:sp>
        <p:nvSpPr>
          <p:cNvPr id="5" name="Text 2"/>
          <p:cNvSpPr/>
          <p:nvPr/>
        </p:nvSpPr>
        <p:spPr>
          <a:xfrm>
            <a:off x="1409069" y="2112566"/>
            <a:ext cx="1809606"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React.js • Bootstrap • CSS • Axios • React Router — responsive, componentized UI</a:t>
            </a:r>
            <a:endParaRPr lang="en-US" sz="1400" dirty="0"/>
          </a:p>
        </p:txBody>
      </p:sp>
      <p:pic>
        <p:nvPicPr>
          <p:cNvPr id="6" name="Image 1" descr="preencoded.png"/>
          <p:cNvPicPr>
            <a:picLocks noChangeAspect="1"/>
          </p:cNvPicPr>
          <p:nvPr/>
        </p:nvPicPr>
        <p:blipFill>
          <a:blip r:embed="rId4"/>
          <a:stretch>
            <a:fillRect/>
          </a:stretch>
        </p:blipFill>
        <p:spPr>
          <a:xfrm>
            <a:off x="3431891" y="1729780"/>
            <a:ext cx="534379" cy="667941"/>
          </a:xfrm>
          <a:prstGeom prst="rect">
            <a:avLst/>
          </a:prstGeom>
        </p:spPr>
      </p:pic>
      <p:sp>
        <p:nvSpPr>
          <p:cNvPr id="7" name="Text 3"/>
          <p:cNvSpPr/>
          <p:nvPr/>
        </p:nvSpPr>
        <p:spPr>
          <a:xfrm>
            <a:off x="4179485" y="1729780"/>
            <a:ext cx="1809705" cy="280491"/>
          </a:xfrm>
          <a:prstGeom prst="rect">
            <a:avLst/>
          </a:prstGeom>
          <a:noFill/>
          <a:ln/>
        </p:spPr>
        <p:txBody>
          <a:bodyPr wrap="none" lIns="0" tIns="0" rIns="0" bIns="0" rtlCol="0" anchor="t"/>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Backend</a:t>
            </a:r>
            <a:endParaRPr lang="en-US" sz="1750" dirty="0"/>
          </a:p>
        </p:txBody>
      </p:sp>
      <p:sp>
        <p:nvSpPr>
          <p:cNvPr id="8" name="Text 4"/>
          <p:cNvSpPr/>
          <p:nvPr/>
        </p:nvSpPr>
        <p:spPr>
          <a:xfrm>
            <a:off x="4179485" y="2112566"/>
            <a:ext cx="1809705"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Node.js • Express.js — REST APIs, authentication, and business logic</a:t>
            </a:r>
            <a:endParaRPr lang="en-US" sz="1400" dirty="0"/>
          </a:p>
        </p:txBody>
      </p:sp>
      <p:pic>
        <p:nvPicPr>
          <p:cNvPr id="9" name="Image 2" descr="preencoded.png"/>
          <p:cNvPicPr>
            <a:picLocks noChangeAspect="1"/>
          </p:cNvPicPr>
          <p:nvPr/>
        </p:nvPicPr>
        <p:blipFill>
          <a:blip r:embed="rId5"/>
          <a:stretch>
            <a:fillRect/>
          </a:stretch>
        </p:blipFill>
        <p:spPr>
          <a:xfrm>
            <a:off x="6202406" y="1729780"/>
            <a:ext cx="534379" cy="667941"/>
          </a:xfrm>
          <a:prstGeom prst="rect">
            <a:avLst/>
          </a:prstGeom>
        </p:spPr>
      </p:pic>
      <p:sp>
        <p:nvSpPr>
          <p:cNvPr id="10" name="Text 5"/>
          <p:cNvSpPr/>
          <p:nvPr/>
        </p:nvSpPr>
        <p:spPr>
          <a:xfrm>
            <a:off x="6950000" y="1729780"/>
            <a:ext cx="1809705" cy="280491"/>
          </a:xfrm>
          <a:prstGeom prst="rect">
            <a:avLst/>
          </a:prstGeom>
          <a:noFill/>
          <a:ln/>
        </p:spPr>
        <p:txBody>
          <a:bodyPr wrap="none" lIns="0" tIns="0" rIns="0" bIns="0" rtlCol="0" anchor="t"/>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Database</a:t>
            </a:r>
            <a:endParaRPr lang="en-US" sz="1750" dirty="0"/>
          </a:p>
        </p:txBody>
      </p:sp>
      <p:sp>
        <p:nvSpPr>
          <p:cNvPr id="11" name="Text 6"/>
          <p:cNvSpPr/>
          <p:nvPr/>
        </p:nvSpPr>
        <p:spPr>
          <a:xfrm>
            <a:off x="6950000" y="2112566"/>
            <a:ext cx="1809705" cy="16805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MongoDB with MongoDB Compass for schema exploration and flexible document models</a:t>
            </a:r>
            <a:endParaRPr lang="en-US" sz="1400" dirty="0"/>
          </a:p>
        </p:txBody>
      </p:sp>
      <p:pic>
        <p:nvPicPr>
          <p:cNvPr id="12" name="Image 3" descr="preencoded.png"/>
          <p:cNvPicPr>
            <a:picLocks noChangeAspect="1"/>
          </p:cNvPicPr>
          <p:nvPr/>
        </p:nvPicPr>
        <p:blipFill>
          <a:blip r:embed="rId6"/>
          <a:stretch>
            <a:fillRect/>
          </a:stretch>
        </p:blipFill>
        <p:spPr>
          <a:xfrm>
            <a:off x="8972921" y="1729780"/>
            <a:ext cx="534379" cy="667941"/>
          </a:xfrm>
          <a:prstGeom prst="rect">
            <a:avLst/>
          </a:prstGeom>
        </p:spPr>
      </p:pic>
      <p:sp>
        <p:nvSpPr>
          <p:cNvPr id="13" name="Text 7"/>
          <p:cNvSpPr/>
          <p:nvPr/>
        </p:nvSpPr>
        <p:spPr>
          <a:xfrm>
            <a:off x="9720515" y="1729780"/>
            <a:ext cx="1809705" cy="560983"/>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Authentication &amp; Security</a:t>
            </a:r>
            <a:endParaRPr lang="en-US" sz="1750" dirty="0"/>
          </a:p>
        </p:txBody>
      </p:sp>
      <p:sp>
        <p:nvSpPr>
          <p:cNvPr id="14" name="Text 8"/>
          <p:cNvSpPr/>
          <p:nvPr/>
        </p:nvSpPr>
        <p:spPr>
          <a:xfrm>
            <a:off x="9720515" y="2393057"/>
            <a:ext cx="1809705" cy="1400473"/>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JWT tokens for stateless auth, bcrypt.js for password hashing, role checks on every endpoint</a:t>
            </a:r>
            <a:endParaRPr lang="en-US" sz="1400" dirty="0"/>
          </a:p>
        </p:txBody>
      </p:sp>
      <p:pic>
        <p:nvPicPr>
          <p:cNvPr id="15" name="Image 4" descr="preencoded.png"/>
          <p:cNvPicPr>
            <a:picLocks noChangeAspect="1"/>
          </p:cNvPicPr>
          <p:nvPr/>
        </p:nvPicPr>
        <p:blipFill>
          <a:blip r:embed="rId7"/>
          <a:stretch>
            <a:fillRect/>
          </a:stretch>
        </p:blipFill>
        <p:spPr>
          <a:xfrm>
            <a:off x="661475" y="4134644"/>
            <a:ext cx="534379" cy="667941"/>
          </a:xfrm>
          <a:prstGeom prst="rect">
            <a:avLst/>
          </a:prstGeom>
        </p:spPr>
      </p:pic>
      <p:sp>
        <p:nvSpPr>
          <p:cNvPr id="16" name="Text 9"/>
          <p:cNvSpPr/>
          <p:nvPr/>
        </p:nvSpPr>
        <p:spPr>
          <a:xfrm>
            <a:off x="1409069" y="4134644"/>
            <a:ext cx="1809606" cy="560983"/>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Development Tools</a:t>
            </a:r>
            <a:endParaRPr lang="en-US" sz="1750" dirty="0"/>
          </a:p>
        </p:txBody>
      </p:sp>
      <p:sp>
        <p:nvSpPr>
          <p:cNvPr id="17" name="Text 10"/>
          <p:cNvSpPr/>
          <p:nvPr/>
        </p:nvSpPr>
        <p:spPr>
          <a:xfrm>
            <a:off x="1409069" y="4797921"/>
            <a:ext cx="1809606"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VS Code • Git • GitHub — version control, issue tracking, and CI/CD readiness</a:t>
            </a:r>
            <a:endParaRPr lang="en-US" sz="1400" dirty="0"/>
          </a:p>
        </p:txBody>
      </p:sp>
      <p:sp>
        <p:nvSpPr>
          <p:cNvPr id="19" name="Rectangle 18">
            <a:extLst>
              <a:ext uri="{FF2B5EF4-FFF2-40B4-BE49-F238E27FC236}">
                <a16:creationId xmlns:a16="http://schemas.microsoft.com/office/drawing/2014/main" id="{5C6F867D-9453-894C-0034-C4A0085C7070}"/>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622598"/>
            <a:ext cx="6296860" cy="803275"/>
          </a:xfrm>
          <a:prstGeom prst="rect">
            <a:avLst/>
          </a:prstGeom>
          <a:noFill/>
          <a:ln/>
        </p:spPr>
        <p:txBody>
          <a:bodyPr wrap="square" lIns="0" tIns="0" rIns="0" bIns="0" rtlCol="0" anchor="t">
            <a:normAutofit/>
          </a:bodyPr>
          <a:lstStyle/>
          <a:p>
            <a:pPr marL="0" indent="0" algn="l">
              <a:lnSpc>
                <a:spcPct val="104000"/>
              </a:lnSpc>
              <a:buNone/>
            </a:pPr>
            <a:r>
              <a:rPr lang="en-US" sz="2500" dirty="0">
                <a:solidFill>
                  <a:srgbClr val="D8B6A4"/>
                </a:solidFill>
                <a:latin typeface="Gelasio" pitchFamily="34" charset="0"/>
                <a:ea typeface="Gelasio" pitchFamily="34" charset="-122"/>
                <a:cs typeface="Gelasio" pitchFamily="34" charset="-120"/>
              </a:rPr>
              <a:t>Expected Outcome &amp; Academic Evaluation Criteria</a:t>
            </a:r>
            <a:endParaRPr lang="en-US" sz="2500" dirty="0"/>
          </a:p>
        </p:txBody>
      </p:sp>
      <p:sp>
        <p:nvSpPr>
          <p:cNvPr id="4" name="Shape 1"/>
          <p:cNvSpPr/>
          <p:nvPr/>
        </p:nvSpPr>
        <p:spPr>
          <a:xfrm>
            <a:off x="5233360" y="1630660"/>
            <a:ext cx="3080169" cy="1605062"/>
          </a:xfrm>
          <a:prstGeom prst="roundRect">
            <a:avLst>
              <a:gd name="adj" fmla="val 1501"/>
            </a:avLst>
          </a:prstGeom>
          <a:solidFill>
            <a:srgbClr val="373433"/>
          </a:solidFill>
          <a:ln/>
        </p:spPr>
      </p:sp>
      <p:sp>
        <p:nvSpPr>
          <p:cNvPr id="5" name="Text 2"/>
          <p:cNvSpPr/>
          <p:nvPr/>
        </p:nvSpPr>
        <p:spPr>
          <a:xfrm>
            <a:off x="5393992" y="1791295"/>
            <a:ext cx="2758907" cy="251023"/>
          </a:xfrm>
          <a:prstGeom prst="rect">
            <a:avLst/>
          </a:prstGeom>
          <a:noFill/>
          <a:ln/>
        </p:spPr>
        <p:txBody>
          <a:bodyPr wrap="none" lIns="0" tIns="0" rIns="0" bIns="0" rtlCol="0" anchor="t"/>
          <a:lstStyle/>
          <a:p>
            <a:pPr marL="0" indent="0" algn="l">
              <a:lnSpc>
                <a:spcPct val="104000"/>
              </a:lnSpc>
              <a:buNone/>
            </a:pPr>
            <a:r>
              <a:rPr lang="en-US" sz="1550" dirty="0">
                <a:solidFill>
                  <a:srgbClr val="C9C2C0"/>
                </a:solidFill>
                <a:latin typeface="Gelasio" pitchFamily="34" charset="0"/>
                <a:ea typeface="Gelasio" pitchFamily="34" charset="-122"/>
                <a:cs typeface="Gelasio" pitchFamily="34" charset="-120"/>
              </a:rPr>
              <a:t>For Customers</a:t>
            </a:r>
            <a:endParaRPr lang="en-US" sz="1550" dirty="0"/>
          </a:p>
        </p:txBody>
      </p:sp>
      <p:sp>
        <p:nvSpPr>
          <p:cNvPr id="6" name="Text 3"/>
          <p:cNvSpPr/>
          <p:nvPr/>
        </p:nvSpPr>
        <p:spPr>
          <a:xfrm>
            <a:off x="5393992" y="2124174"/>
            <a:ext cx="2758907"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C9C2C0"/>
                </a:solidFill>
                <a:latin typeface="Gelasio" pitchFamily="34" charset="0"/>
                <a:ea typeface="Gelasio" pitchFamily="34" charset="-122"/>
                <a:cs typeface="Gelasio" pitchFamily="34" charset="-120"/>
              </a:rPr>
              <a:t>Unified product discovery, seamless checkout flow, order tracking, and aggregated reviews facilitate faster, more informed purchases.</a:t>
            </a:r>
            <a:endParaRPr lang="en-US" sz="1250" dirty="0"/>
          </a:p>
        </p:txBody>
      </p:sp>
      <p:sp>
        <p:nvSpPr>
          <p:cNvPr id="7" name="Shape 4"/>
          <p:cNvSpPr/>
          <p:nvPr/>
        </p:nvSpPr>
        <p:spPr>
          <a:xfrm>
            <a:off x="8450051" y="1630660"/>
            <a:ext cx="3080169" cy="1605062"/>
          </a:xfrm>
          <a:prstGeom prst="roundRect">
            <a:avLst>
              <a:gd name="adj" fmla="val 1501"/>
            </a:avLst>
          </a:prstGeom>
          <a:solidFill>
            <a:srgbClr val="373433"/>
          </a:solidFill>
          <a:ln/>
        </p:spPr>
      </p:sp>
      <p:sp>
        <p:nvSpPr>
          <p:cNvPr id="8" name="Text 5"/>
          <p:cNvSpPr/>
          <p:nvPr/>
        </p:nvSpPr>
        <p:spPr>
          <a:xfrm>
            <a:off x="8610682" y="1791295"/>
            <a:ext cx="2758907" cy="251023"/>
          </a:xfrm>
          <a:prstGeom prst="rect">
            <a:avLst/>
          </a:prstGeom>
          <a:noFill/>
          <a:ln/>
        </p:spPr>
        <p:txBody>
          <a:bodyPr wrap="none" lIns="0" tIns="0" rIns="0" bIns="0" rtlCol="0" anchor="t"/>
          <a:lstStyle/>
          <a:p>
            <a:pPr marL="0" indent="0" algn="l">
              <a:lnSpc>
                <a:spcPct val="104000"/>
              </a:lnSpc>
              <a:buNone/>
            </a:pPr>
            <a:r>
              <a:rPr lang="en-US" sz="1550" dirty="0">
                <a:solidFill>
                  <a:srgbClr val="C9C2C0"/>
                </a:solidFill>
                <a:latin typeface="Gelasio" pitchFamily="34" charset="0"/>
                <a:ea typeface="Gelasio" pitchFamily="34" charset="-122"/>
                <a:cs typeface="Gelasio" pitchFamily="34" charset="-120"/>
              </a:rPr>
              <a:t>For Vendors</a:t>
            </a:r>
            <a:endParaRPr lang="en-US" sz="1550" dirty="0"/>
          </a:p>
        </p:txBody>
      </p:sp>
      <p:sp>
        <p:nvSpPr>
          <p:cNvPr id="9" name="Text 6"/>
          <p:cNvSpPr/>
          <p:nvPr/>
        </p:nvSpPr>
        <p:spPr>
          <a:xfrm>
            <a:off x="8610682" y="2124174"/>
            <a:ext cx="2758907"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C9C2C0"/>
                </a:solidFill>
                <a:latin typeface="Gelasio" pitchFamily="34" charset="0"/>
                <a:ea typeface="Gelasio" pitchFamily="34" charset="-122"/>
                <a:cs typeface="Gelasio" pitchFamily="34" charset="-120"/>
              </a:rPr>
              <a:t>Simple onboarding, SKU and stock management, order visibility, and consolidated sales reports increase reach and operational efficiency.</a:t>
            </a:r>
            <a:endParaRPr lang="en-US" sz="1250" dirty="0"/>
          </a:p>
        </p:txBody>
      </p:sp>
      <p:sp>
        <p:nvSpPr>
          <p:cNvPr id="10" name="Shape 7"/>
          <p:cNvSpPr/>
          <p:nvPr/>
        </p:nvSpPr>
        <p:spPr>
          <a:xfrm>
            <a:off x="5233360" y="3372247"/>
            <a:ext cx="6296860" cy="1367334"/>
          </a:xfrm>
          <a:prstGeom prst="roundRect">
            <a:avLst>
              <a:gd name="adj" fmla="val 1763"/>
            </a:avLst>
          </a:prstGeom>
          <a:solidFill>
            <a:srgbClr val="373433"/>
          </a:solidFill>
          <a:ln/>
        </p:spPr>
      </p:sp>
      <p:sp>
        <p:nvSpPr>
          <p:cNvPr id="11" name="Text 8"/>
          <p:cNvSpPr/>
          <p:nvPr/>
        </p:nvSpPr>
        <p:spPr>
          <a:xfrm>
            <a:off x="5393992" y="3532882"/>
            <a:ext cx="5975597" cy="251023"/>
          </a:xfrm>
          <a:prstGeom prst="rect">
            <a:avLst/>
          </a:prstGeom>
          <a:noFill/>
          <a:ln/>
        </p:spPr>
        <p:txBody>
          <a:bodyPr wrap="none" lIns="0" tIns="0" rIns="0" bIns="0" rtlCol="0" anchor="t"/>
          <a:lstStyle/>
          <a:p>
            <a:pPr marL="0" indent="0" algn="l">
              <a:lnSpc>
                <a:spcPct val="104000"/>
              </a:lnSpc>
              <a:buNone/>
            </a:pPr>
            <a:r>
              <a:rPr lang="en-US" sz="1550" dirty="0">
                <a:solidFill>
                  <a:srgbClr val="C9C2C0"/>
                </a:solidFill>
                <a:latin typeface="Gelasio" pitchFamily="34" charset="0"/>
                <a:ea typeface="Gelasio" pitchFamily="34" charset="-122"/>
                <a:cs typeface="Gelasio" pitchFamily="34" charset="-120"/>
              </a:rPr>
              <a:t>For Admins &amp; Instructors</a:t>
            </a:r>
            <a:endParaRPr lang="en-US" sz="1550" dirty="0"/>
          </a:p>
        </p:txBody>
      </p:sp>
      <p:sp>
        <p:nvSpPr>
          <p:cNvPr id="12" name="Text 9"/>
          <p:cNvSpPr/>
          <p:nvPr/>
        </p:nvSpPr>
        <p:spPr>
          <a:xfrm>
            <a:off x="5393992" y="3865761"/>
            <a:ext cx="5975597" cy="713184"/>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C9C2C0"/>
                </a:solidFill>
                <a:latin typeface="Gelasio" pitchFamily="34" charset="0"/>
                <a:ea typeface="Gelasio" pitchFamily="34" charset="-122"/>
                <a:cs typeface="Gelasio" pitchFamily="34" charset="-120"/>
              </a:rPr>
              <a:t>Centralized control over users, vendors, and content; instrumentation for auditing, grading, and demonstration of DBMS concepts like schema design, indexing, and transaction handling.</a:t>
            </a:r>
            <a:endParaRPr lang="en-US" sz="1250" dirty="0"/>
          </a:p>
        </p:txBody>
      </p:sp>
      <p:sp>
        <p:nvSpPr>
          <p:cNvPr id="13" name="Text 10"/>
          <p:cNvSpPr/>
          <p:nvPr/>
        </p:nvSpPr>
        <p:spPr>
          <a:xfrm>
            <a:off x="5233360" y="4893171"/>
            <a:ext cx="6296860" cy="1342231"/>
          </a:xfrm>
          <a:prstGeom prst="rect">
            <a:avLst/>
          </a:prstGeom>
          <a:noFill/>
          <a:ln/>
        </p:spPr>
        <p:txBody>
          <a:bodyPr wrap="square" lIns="0" tIns="0" rIns="0" bIns="0" rtlCol="0" anchor="t">
            <a:normAutofit/>
          </a:bodyPr>
          <a:lstStyle/>
          <a:p>
            <a:pPr marL="0" indent="0" algn="l">
              <a:lnSpc>
                <a:spcPct val="123000"/>
              </a:lnSpc>
              <a:spcAft>
                <a:spcPts val="1200"/>
              </a:spcAft>
              <a:buNone/>
            </a:pPr>
            <a:r>
              <a:rPr lang="en-US" sz="1250" dirty="0">
                <a:solidFill>
                  <a:srgbClr val="C9C2C0"/>
                </a:solidFill>
                <a:latin typeface="Gelasio" pitchFamily="34" charset="0"/>
                <a:ea typeface="Gelasio" pitchFamily="34" charset="-122"/>
                <a:cs typeface="Gelasio" pitchFamily="34" charset="-120"/>
              </a:rPr>
              <a:t>     Overall objective: deliver a robust, well‑documented DBMS project that demonstrates practical     application of web technologies, secure authentication, role‑based access, and scalable data models.   </a:t>
            </a:r>
            <a:endParaRPr lang="en-US" sz="1250" dirty="0"/>
          </a:p>
          <a:p>
            <a:pPr marL="0" indent="0" algn="l">
              <a:lnSpc>
                <a:spcPct val="123000"/>
              </a:lnSpc>
              <a:buNone/>
            </a:pPr>
            <a:r>
              <a:rPr lang="en-US" sz="1250" dirty="0">
                <a:solidFill>
                  <a:srgbClr val="C9C2C0"/>
                </a:solidFill>
                <a:latin typeface="Gelasio" pitchFamily="34" charset="0"/>
                <a:ea typeface="Gelasio" pitchFamily="34" charset="-122"/>
                <a:cs typeface="Gelasio" pitchFamily="34" charset="-120"/>
              </a:rPr>
              <a:t> Next steps: implement full API test suite, add payment gateway integration, and prepare demo data for evaluation.</a:t>
            </a:r>
            <a:endParaRPr lang="en-US" sz="1250" dirty="0"/>
          </a:p>
        </p:txBody>
      </p:sp>
      <p:sp>
        <p:nvSpPr>
          <p:cNvPr id="15" name="Rectangle 14">
            <a:extLst>
              <a:ext uri="{FF2B5EF4-FFF2-40B4-BE49-F238E27FC236}">
                <a16:creationId xmlns:a16="http://schemas.microsoft.com/office/drawing/2014/main" id="{0949FC51-582E-10D3-6B3E-DA0C35E9D7B1}"/>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AF3B3-4AEB-1EEB-2761-C2F6F3AE51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44413D-0EC0-C24F-CE92-212E376315E2}"/>
              </a:ext>
            </a:extLst>
          </p:cNvPr>
          <p:cNvSpPr/>
          <p:nvPr/>
        </p:nvSpPr>
        <p:spPr>
          <a:xfrm>
            <a:off x="661475" y="939701"/>
            <a:ext cx="10868745" cy="448965"/>
          </a:xfrm>
          <a:prstGeom prst="rect">
            <a:avLst/>
          </a:prstGeom>
          <a:noFill/>
          <a:ln/>
        </p:spPr>
        <p:txBody>
          <a:bodyPr wrap="none" lIns="0" tIns="0" rIns="0" bIns="0" rtlCol="0" anchor="t"/>
          <a:lstStyle/>
          <a:p>
            <a:pPr marL="0" indent="0">
              <a:lnSpc>
                <a:spcPct val="104000"/>
              </a:lnSpc>
              <a:buNone/>
            </a:pPr>
            <a:r>
              <a:rPr lang="en-US" sz="2800" dirty="0">
                <a:solidFill>
                  <a:srgbClr val="D8B6A4"/>
                </a:solidFill>
                <a:latin typeface="Gelasio" pitchFamily="34" charset="0"/>
                <a:cs typeface="Gelasio" pitchFamily="34" charset="-120"/>
              </a:rPr>
              <a:t>Conclusion</a:t>
            </a:r>
            <a:endParaRPr lang="en-US" sz="2800" dirty="0"/>
          </a:p>
        </p:txBody>
      </p:sp>
      <p:sp>
        <p:nvSpPr>
          <p:cNvPr id="20" name="Text 1">
            <a:extLst>
              <a:ext uri="{FF2B5EF4-FFF2-40B4-BE49-F238E27FC236}">
                <a16:creationId xmlns:a16="http://schemas.microsoft.com/office/drawing/2014/main" id="{C7D76135-D7C8-EA66-7FC6-EC2CDD88BD2F}"/>
              </a:ext>
            </a:extLst>
          </p:cNvPr>
          <p:cNvSpPr/>
          <p:nvPr/>
        </p:nvSpPr>
        <p:spPr>
          <a:xfrm>
            <a:off x="585538" y="1812758"/>
            <a:ext cx="7058526" cy="3612622"/>
          </a:xfrm>
          <a:prstGeom prst="rect">
            <a:avLst/>
          </a:prstGeom>
          <a:noFill/>
          <a:ln/>
        </p:spPr>
        <p:txBody>
          <a:bodyPr wrap="square" lIns="0" tIns="0" rIns="0" bIns="0" rtlCol="0" anchor="t">
            <a:normAutofit/>
          </a:bodyPr>
          <a:lstStyle/>
          <a:p>
            <a:pPr>
              <a:lnSpc>
                <a:spcPct val="133000"/>
              </a:lnSpc>
              <a:spcAft>
                <a:spcPts val="1650"/>
              </a:spcAft>
            </a:pPr>
            <a:r>
              <a:rPr lang="en-US" sz="1250" dirty="0">
                <a:solidFill>
                  <a:schemeClr val="bg1">
                    <a:lumMod val="85000"/>
                  </a:schemeClr>
                </a:solidFill>
                <a:latin typeface="Gelasio" panose="020B0604020202020204" charset="0"/>
                <a:cs typeface="Gelasio" panose="020B0604020202020204" charset="0"/>
              </a:rPr>
              <a:t>The Multi-Vendor E-Commerce Marketplace provides a single platform where customers can discover, compare, and purchase products from multiple vendors. It simplifies the shopping process by bringing products, prices, ratings, and reviews together in one place, while helping vendors reach more customers and manage their products and orders efficiently.</a:t>
            </a:r>
          </a:p>
        </p:txBody>
      </p:sp>
      <p:sp>
        <p:nvSpPr>
          <p:cNvPr id="22" name="Rectangle 21">
            <a:extLst>
              <a:ext uri="{FF2B5EF4-FFF2-40B4-BE49-F238E27FC236}">
                <a16:creationId xmlns:a16="http://schemas.microsoft.com/office/drawing/2014/main" id="{D6C17E6E-59C9-5FF9-A735-B93ADC2C9E74}"/>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97993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652</Words>
  <Application>Microsoft Office PowerPoint</Application>
  <PresentationFormat>Widescreen</PresentationFormat>
  <Paragraphs>61</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Gelasio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Injeti Haricharansai</cp:lastModifiedBy>
  <cp:revision>4</cp:revision>
  <dcterms:created xsi:type="dcterms:W3CDTF">2026-08-26T03:39:07Z</dcterms:created>
  <dcterms:modified xsi:type="dcterms:W3CDTF">2026-08-28T05:05:03Z</dcterms:modified>
</cp:coreProperties>
</file>